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85" autoAdjust="0"/>
  </p:normalViewPr>
  <p:slideViewPr>
    <p:cSldViewPr snapToGrid="0">
      <p:cViewPr varScale="1">
        <p:scale>
          <a:sx n="77" d="100"/>
          <a:sy n="77" d="100"/>
        </p:scale>
        <p:origin x="88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a:xfrm>
            <a:off x="531812" y="4529540"/>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19320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044920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a:xfrm>
            <a:off x="531812" y="3244139"/>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50012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11" name="Slide Number Placeholder 5"/>
          <p:cNvSpPr>
            <a:spLocks noGrp="1"/>
          </p:cNvSpPr>
          <p:nvPr>
            <p:ph type="sldNum" sz="quarter" idx="12"/>
          </p:nvPr>
        </p:nvSpPr>
        <p:spPr>
          <a:xfrm>
            <a:off x="531812" y="787782"/>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1911441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13" name="Slide Number Placeholder 5"/>
          <p:cNvSpPr>
            <a:spLocks noGrp="1"/>
          </p:cNvSpPr>
          <p:nvPr>
            <p:ph type="sldNum" sz="quarter" idx="12"/>
          </p:nvPr>
        </p:nvSpPr>
        <p:spPr>
          <a:xfrm>
            <a:off x="531812" y="787782"/>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558522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5" name="Slide Number Placeholder 4"/>
          <p:cNvSpPr>
            <a:spLocks noGrp="1"/>
          </p:cNvSpPr>
          <p:nvPr>
            <p:ph type="sldNum" sz="quarter" idx="12"/>
          </p:nvPr>
        </p:nvSpPr>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3988111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4" name="Slide Number Placeholder 3"/>
          <p:cNvSpPr>
            <a:spLocks noGrp="1"/>
          </p:cNvSpPr>
          <p:nvPr>
            <p:ph type="sldNum" sz="quarter" idx="12"/>
          </p:nvPr>
        </p:nvSpPr>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1752868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7" name="Slide Number Placeholder 6"/>
          <p:cNvSpPr>
            <a:spLocks noGrp="1"/>
          </p:cNvSpPr>
          <p:nvPr>
            <p:ph type="sldNum" sz="quarter" idx="12"/>
          </p:nvPr>
        </p:nvSpPr>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222788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7" name="Slide Number Placeholder 6"/>
          <p:cNvSpPr>
            <a:spLocks noGrp="1"/>
          </p:cNvSpPr>
          <p:nvPr>
            <p:ph type="sldNum" sz="quarter" idx="12"/>
          </p:nvPr>
        </p:nvSpPr>
        <p:spPr>
          <a:xfrm>
            <a:off x="531812" y="4983087"/>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1672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a:xfrm>
            <a:off x="531812" y="3244139"/>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39968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a:xfrm>
            <a:off x="531812" y="3244139"/>
            <a:ext cx="779767" cy="365125"/>
          </a:xfrm>
        </p:spPr>
        <p:txBody>
          <a:bodyPr/>
          <a:lstStyle/>
          <a:p>
            <a:fld id="{D71D7DF5-577A-440C-AFE3-DF1ED0CCE6D6}"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15386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7" name="Slide Number Placeholder 6"/>
          <p:cNvSpPr>
            <a:spLocks noGrp="1"/>
          </p:cNvSpPr>
          <p:nvPr>
            <p:ph type="sldNum" sz="quarter" idx="12"/>
          </p:nvPr>
        </p:nvSpPr>
        <p:spPr>
          <a:xfrm>
            <a:off x="531812" y="4983087"/>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867562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7" name="Slide Number Placeholder 6"/>
          <p:cNvSpPr>
            <a:spLocks noGrp="1"/>
          </p:cNvSpPr>
          <p:nvPr>
            <p:ph type="sldNum" sz="quarter" idx="12"/>
          </p:nvPr>
        </p:nvSpPr>
        <p:spPr>
          <a:xfrm>
            <a:off x="531812" y="4983087"/>
            <a:ext cx="779767" cy="365125"/>
          </a:xfrm>
        </p:spPr>
        <p:txBody>
          <a:bodyPr/>
          <a:lstStyle/>
          <a:p>
            <a:fld id="{D71D7DF5-577A-440C-AFE3-DF1ED0CCE6D6}"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42097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7" name="Slide Number Placeholder 6"/>
          <p:cNvSpPr>
            <a:spLocks noGrp="1"/>
          </p:cNvSpPr>
          <p:nvPr>
            <p:ph type="sldNum" sz="quarter" idx="12"/>
          </p:nvPr>
        </p:nvSpPr>
        <p:spPr>
          <a:xfrm>
            <a:off x="531812" y="4983087"/>
            <a:ext cx="779767" cy="365125"/>
          </a:xfrm>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1436294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4220718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4C0E04-F8AC-49B0-B416-91CF090FF2ED}"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dirty="0"/>
          </a:p>
        </p:txBody>
      </p:sp>
      <p:sp>
        <p:nvSpPr>
          <p:cNvPr id="6" name="Slide Number Placeholder 5"/>
          <p:cNvSpPr>
            <a:spLocks noGrp="1"/>
          </p:cNvSpPr>
          <p:nvPr>
            <p:ph type="sldNum" sz="quarter" idx="12"/>
          </p:nvPr>
        </p:nvSpPr>
        <p:spPr/>
        <p:txBody>
          <a:bodyPr/>
          <a:lstStyle/>
          <a:p>
            <a:fld id="{D71D7DF5-577A-440C-AFE3-DF1ED0CCE6D6}" type="slidenum">
              <a:rPr lang="en-US" smtClean="0"/>
              <a:t>‹#›</a:t>
            </a:fld>
            <a:endParaRPr lang="en-US" dirty="0"/>
          </a:p>
        </p:txBody>
      </p:sp>
    </p:spTree>
    <p:extLst>
      <p:ext uri="{BB962C8B-B14F-4D97-AF65-F5344CB8AC3E}">
        <p14:creationId xmlns:p14="http://schemas.microsoft.com/office/powerpoint/2010/main" val="2686982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dirty="0"/>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dirty="0"/>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dirty="0"/>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dirty="0"/>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dirty="0"/>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dirty="0"/>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dirty="0"/>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dirty="0"/>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dirty="0"/>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dirty="0"/>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dirty="0"/>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dirty="0"/>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dirty="0"/>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dirty="0"/>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dirty="0"/>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dirty="0"/>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dirty="0"/>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dirty="0"/>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dirty="0"/>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dirty="0"/>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dirty="0"/>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dirty="0"/>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dirty="0"/>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dirty="0"/>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4C0E04-F8AC-49B0-B416-91CF090FF2ED}" type="datetimeFigureOut">
              <a:rPr lang="en-US" smtClean="0"/>
              <a:t>1/4/2026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71D7DF5-577A-440C-AFE3-DF1ED0CCE6D6}" type="slidenum">
              <a:rPr lang="en-US" smtClean="0"/>
              <a:t>‹#›</a:t>
            </a:fld>
            <a:endParaRPr lang="en-US" dirty="0"/>
          </a:p>
        </p:txBody>
      </p:sp>
    </p:spTree>
    <p:extLst>
      <p:ext uri="{BB962C8B-B14F-4D97-AF65-F5344CB8AC3E}">
        <p14:creationId xmlns:p14="http://schemas.microsoft.com/office/powerpoint/2010/main" val="36908128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C7B9A-8D1A-A15D-0FFB-3414C23E547B}"/>
              </a:ext>
            </a:extLst>
          </p:cNvPr>
          <p:cNvSpPr>
            <a:spLocks noGrp="1"/>
          </p:cNvSpPr>
          <p:nvPr>
            <p:ph type="ctrTitle"/>
          </p:nvPr>
        </p:nvSpPr>
        <p:spPr>
          <a:xfrm>
            <a:off x="1524000" y="0"/>
            <a:ext cx="9144000" cy="2387600"/>
          </a:xfrm>
        </p:spPr>
        <p:txBody>
          <a:bodyPr>
            <a:normAutofit/>
          </a:bodyPr>
          <a:lstStyle/>
          <a:p>
            <a:pPr algn="ctr"/>
            <a:r>
              <a:rPr lang="en-US" sz="7200" dirty="0">
                <a:latin typeface="Arial" panose="020B0604020202020204" pitchFamily="34" charset="0"/>
                <a:cs typeface="Arial" panose="020B0604020202020204" pitchFamily="34" charset="0"/>
              </a:rPr>
              <a:t>ML BASED WAF</a:t>
            </a:r>
          </a:p>
        </p:txBody>
      </p:sp>
      <p:sp>
        <p:nvSpPr>
          <p:cNvPr id="3" name="Subtitle 2">
            <a:extLst>
              <a:ext uri="{FF2B5EF4-FFF2-40B4-BE49-F238E27FC236}">
                <a16:creationId xmlns:a16="http://schemas.microsoft.com/office/drawing/2014/main" id="{7A016F1F-E2CC-4A34-970D-AD09876DA3DE}"/>
              </a:ext>
            </a:extLst>
          </p:cNvPr>
          <p:cNvSpPr>
            <a:spLocks noGrp="1"/>
          </p:cNvSpPr>
          <p:nvPr>
            <p:ph type="subTitle" idx="1"/>
          </p:nvPr>
        </p:nvSpPr>
        <p:spPr>
          <a:xfrm>
            <a:off x="1198225" y="2295664"/>
            <a:ext cx="10221836" cy="1655762"/>
          </a:xfrm>
        </p:spPr>
        <p:txBody>
          <a:bodyPr>
            <a:normAutofit/>
          </a:bodyPr>
          <a:lstStyle/>
          <a:p>
            <a:r>
              <a:rPr lang="en-US" sz="2800" dirty="0">
                <a:solidFill>
                  <a:schemeClr val="tx1"/>
                </a:solidFill>
                <a:latin typeface="Arial" panose="020B0604020202020204" pitchFamily="34" charset="0"/>
                <a:cs typeface="Arial" panose="020B0604020202020204" pitchFamily="34" charset="0"/>
              </a:rPr>
              <a:t>ML-Based Anomaly Detection and Decision Module for Web 						Application Firewall Integration</a:t>
            </a:r>
          </a:p>
        </p:txBody>
      </p:sp>
      <p:sp>
        <p:nvSpPr>
          <p:cNvPr id="4" name="TextBox 3">
            <a:extLst>
              <a:ext uri="{FF2B5EF4-FFF2-40B4-BE49-F238E27FC236}">
                <a16:creationId xmlns:a16="http://schemas.microsoft.com/office/drawing/2014/main" id="{7A9603DA-D5CB-D76C-1B59-C4235C149DC4}"/>
              </a:ext>
            </a:extLst>
          </p:cNvPr>
          <p:cNvSpPr txBox="1"/>
          <p:nvPr/>
        </p:nvSpPr>
        <p:spPr>
          <a:xfrm>
            <a:off x="1720645" y="4847303"/>
            <a:ext cx="6528619" cy="1815882"/>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Presentation by :</a:t>
            </a:r>
          </a:p>
          <a:p>
            <a:r>
              <a:rPr lang="en-US" sz="2800" dirty="0">
                <a:latin typeface="Arial" panose="020B0604020202020204" pitchFamily="34" charset="0"/>
                <a:cs typeface="Arial" panose="020B0604020202020204" pitchFamily="34" charset="0"/>
              </a:rPr>
              <a:t>Tejashwini R Teli</a:t>
            </a:r>
          </a:p>
          <a:p>
            <a:r>
              <a:rPr lang="en-US" sz="2800" dirty="0">
                <a:latin typeface="Arial" panose="020B0604020202020204" pitchFamily="34" charset="0"/>
                <a:cs typeface="Arial" panose="020B0604020202020204" pitchFamily="34" charset="0"/>
              </a:rPr>
              <a:t>MTech 2</a:t>
            </a:r>
            <a:r>
              <a:rPr lang="en-US" sz="2800" baseline="30000" dirty="0">
                <a:latin typeface="Arial" panose="020B0604020202020204" pitchFamily="34" charset="0"/>
                <a:cs typeface="Arial" panose="020B0604020202020204" pitchFamily="34" charset="0"/>
              </a:rPr>
              <a:t>nd</a:t>
            </a:r>
            <a:r>
              <a:rPr lang="en-US" sz="2800" dirty="0">
                <a:latin typeface="Arial" panose="020B0604020202020204" pitchFamily="34" charset="0"/>
                <a:cs typeface="Arial" panose="020B0604020202020204" pitchFamily="34" charset="0"/>
              </a:rPr>
              <a:t> year</a:t>
            </a:r>
          </a:p>
          <a:p>
            <a:r>
              <a:rPr lang="en-US" sz="2800" dirty="0">
                <a:latin typeface="Arial" panose="020B0604020202020204" pitchFamily="34" charset="0"/>
                <a:cs typeface="Arial" panose="020B0604020202020204" pitchFamily="34" charset="0"/>
              </a:rPr>
              <a:t>IIIT Pune.</a:t>
            </a:r>
          </a:p>
        </p:txBody>
      </p:sp>
    </p:spTree>
    <p:extLst>
      <p:ext uri="{BB962C8B-B14F-4D97-AF65-F5344CB8AC3E}">
        <p14:creationId xmlns:p14="http://schemas.microsoft.com/office/powerpoint/2010/main" val="273773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035C-B542-D8DE-3B12-30AA0AA06BBE}"/>
              </a:ext>
            </a:extLst>
          </p:cNvPr>
          <p:cNvSpPr>
            <a:spLocks noGrp="1"/>
          </p:cNvSpPr>
          <p:nvPr>
            <p:ph type="title"/>
          </p:nvPr>
        </p:nvSpPr>
        <p:spPr>
          <a:xfrm>
            <a:off x="1859280" y="629891"/>
            <a:ext cx="8911687" cy="1280890"/>
          </a:xfrm>
        </p:spPr>
        <p:txBody>
          <a:bodyPr>
            <a:noAutofit/>
          </a:bodyPr>
          <a:lstStyle/>
          <a:p>
            <a:r>
              <a:rPr lang="en-US" sz="4400" dirty="0">
                <a:latin typeface="Arial" panose="020B0604020202020204" pitchFamily="34" charset="0"/>
                <a:cs typeface="Arial" panose="020B0604020202020204" pitchFamily="34" charset="0"/>
              </a:rPr>
              <a:t>Problem Statement</a:t>
            </a:r>
            <a:br>
              <a:rPr lang="en-US" sz="4400" dirty="0">
                <a:latin typeface="Arial" panose="020B0604020202020204" pitchFamily="34" charset="0"/>
                <a:cs typeface="Arial" panose="020B0604020202020204" pitchFamily="34" charset="0"/>
              </a:rPr>
            </a:br>
            <a:endParaRPr lang="en-US" sz="4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71CCAED-7F61-7EBB-15A1-9E45066EB5ED}"/>
              </a:ext>
            </a:extLst>
          </p:cNvPr>
          <p:cNvSpPr>
            <a:spLocks noGrp="1"/>
          </p:cNvSpPr>
          <p:nvPr>
            <p:ph idx="1"/>
          </p:nvPr>
        </p:nvSpPr>
        <p:spPr>
          <a:xfrm>
            <a:off x="1859280" y="3429000"/>
            <a:ext cx="9787572" cy="3777622"/>
          </a:xfrm>
        </p:spPr>
        <p:txBody>
          <a:bodyPr>
            <a:normAutofit/>
          </a:bodyPr>
          <a:lstStyle/>
          <a:p>
            <a:pPr algn="just"/>
            <a:r>
              <a:rPr lang="en-US" sz="2000" dirty="0">
                <a:solidFill>
                  <a:schemeClr val="tx1"/>
                </a:solidFill>
                <a:latin typeface="Arial" panose="020B0604020202020204" pitchFamily="34" charset="0"/>
                <a:cs typeface="Arial" panose="020B0604020202020204" pitchFamily="34" charset="0"/>
              </a:rPr>
              <a:t>Why Traditional WAF fails:</a:t>
            </a:r>
          </a:p>
          <a:p>
            <a:pPr lvl="1" algn="just"/>
            <a:r>
              <a:rPr lang="en-US" sz="1800" dirty="0">
                <a:solidFill>
                  <a:schemeClr val="tx1"/>
                </a:solidFill>
                <a:latin typeface="Arial" panose="020B0604020202020204" pitchFamily="34" charset="0"/>
                <a:cs typeface="Arial" panose="020B0604020202020204" pitchFamily="34" charset="0"/>
              </a:rPr>
              <a:t>Rule-based WAFs rely on static signatures</a:t>
            </a:r>
          </a:p>
          <a:p>
            <a:pPr lvl="1" algn="just"/>
            <a:r>
              <a:rPr lang="en-US" sz="1800" dirty="0">
                <a:solidFill>
                  <a:schemeClr val="tx1"/>
                </a:solidFill>
                <a:latin typeface="Arial" panose="020B0604020202020204" pitchFamily="34" charset="0"/>
                <a:cs typeface="Arial" panose="020B0604020202020204" pitchFamily="34" charset="0"/>
              </a:rPr>
              <a:t>High false positives on legitimate traffic</a:t>
            </a:r>
          </a:p>
          <a:p>
            <a:pPr lvl="1" algn="just"/>
            <a:r>
              <a:rPr lang="en-US" sz="1800" dirty="0">
                <a:solidFill>
                  <a:schemeClr val="tx1"/>
                </a:solidFill>
                <a:latin typeface="Arial" panose="020B0604020202020204" pitchFamily="34" charset="0"/>
                <a:cs typeface="Arial" panose="020B0604020202020204" pitchFamily="34" charset="0"/>
              </a:rPr>
              <a:t>Ineffective against zero-day or unseen attacks</a:t>
            </a:r>
          </a:p>
          <a:p>
            <a:pPr lvl="1" algn="just"/>
            <a:r>
              <a:rPr lang="en-US" sz="1800" dirty="0">
                <a:solidFill>
                  <a:schemeClr val="tx1"/>
                </a:solidFill>
                <a:latin typeface="Arial" panose="020B0604020202020204" pitchFamily="34" charset="0"/>
                <a:cs typeface="Arial" panose="020B0604020202020204" pitchFamily="34" charset="0"/>
              </a:rPr>
              <a:t>Difficult to adapt to evolving attack patterns</a:t>
            </a:r>
          </a:p>
          <a:p>
            <a:pPr marL="457200" lvl="1" indent="0" algn="just">
              <a:buNone/>
            </a:pPr>
            <a:r>
              <a:rPr lang="en-US" sz="1800" b="1" dirty="0">
                <a:solidFill>
                  <a:schemeClr val="tx1"/>
                </a:solidFill>
                <a:latin typeface="Arial" panose="020B0604020202020204" pitchFamily="34" charset="0"/>
                <a:cs typeface="Arial" panose="020B0604020202020204" pitchFamily="34" charset="0"/>
              </a:rPr>
              <a:t>Need for adaptive, behavior-based traffic analysis</a:t>
            </a:r>
          </a:p>
        </p:txBody>
      </p:sp>
      <p:sp>
        <p:nvSpPr>
          <p:cNvPr id="6" name="TextBox 5">
            <a:extLst>
              <a:ext uri="{FF2B5EF4-FFF2-40B4-BE49-F238E27FC236}">
                <a16:creationId xmlns:a16="http://schemas.microsoft.com/office/drawing/2014/main" id="{8EC87F89-13D9-D680-89C0-CBABB26C2422}"/>
              </a:ext>
            </a:extLst>
          </p:cNvPr>
          <p:cNvSpPr txBox="1"/>
          <p:nvPr/>
        </p:nvSpPr>
        <p:spPr>
          <a:xfrm>
            <a:off x="1859280" y="1651336"/>
            <a:ext cx="9543732"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DEVELOPMENT OF A MACHINE LEARNING ENABLED NETWORK ANOMALY DETECTION MODULE FOR FUTURE INTEGRATION WITH WEB APPLICATION FIREWALL (WAF)</a:t>
            </a:r>
          </a:p>
        </p:txBody>
      </p:sp>
    </p:spTree>
    <p:extLst>
      <p:ext uri="{BB962C8B-B14F-4D97-AF65-F5344CB8AC3E}">
        <p14:creationId xmlns:p14="http://schemas.microsoft.com/office/powerpoint/2010/main" val="1812065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3F0B-BE74-6C09-105C-7D8260F7A80D}"/>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Proposed Solution</a:t>
            </a:r>
          </a:p>
        </p:txBody>
      </p:sp>
      <p:sp>
        <p:nvSpPr>
          <p:cNvPr id="3" name="Content Placeholder 2">
            <a:extLst>
              <a:ext uri="{FF2B5EF4-FFF2-40B4-BE49-F238E27FC236}">
                <a16:creationId xmlns:a16="http://schemas.microsoft.com/office/drawing/2014/main" id="{79B76E0A-E30A-41DF-C249-2C8A3EE134A6}"/>
              </a:ext>
            </a:extLst>
          </p:cNvPr>
          <p:cNvSpPr>
            <a:spLocks noGrp="1"/>
          </p:cNvSpPr>
          <p:nvPr>
            <p:ph idx="1"/>
          </p:nvPr>
        </p:nvSpPr>
        <p:spPr/>
        <p:txBody>
          <a:bodyPr/>
          <a:lstStyle/>
          <a:p>
            <a:pPr algn="just"/>
            <a:r>
              <a:rPr lang="en-US" b="1" dirty="0">
                <a:latin typeface="Arial" panose="020B0604020202020204" pitchFamily="34" charset="0"/>
                <a:cs typeface="Arial" panose="020B0604020202020204" pitchFamily="34" charset="0"/>
              </a:rPr>
              <a:t>ML-Based Behavioral WAF</a:t>
            </a:r>
          </a:p>
          <a:p>
            <a:pPr lvl="1" algn="just"/>
            <a:r>
              <a:rPr lang="en-US" dirty="0">
                <a:latin typeface="Arial" panose="020B0604020202020204" pitchFamily="34" charset="0"/>
                <a:cs typeface="Arial" panose="020B0604020202020204" pitchFamily="34" charset="0"/>
              </a:rPr>
              <a:t>Learn normal vs malicious behavior from data</a:t>
            </a:r>
          </a:p>
          <a:p>
            <a:pPr lvl="1" algn="just"/>
            <a:r>
              <a:rPr lang="en-US" dirty="0">
                <a:latin typeface="Arial" panose="020B0604020202020204" pitchFamily="34" charset="0"/>
                <a:cs typeface="Arial" panose="020B0604020202020204" pitchFamily="34" charset="0"/>
              </a:rPr>
              <a:t>Multiclass attack classification using ML</a:t>
            </a:r>
          </a:p>
          <a:p>
            <a:pPr lvl="1" algn="just"/>
            <a:r>
              <a:rPr lang="en-US" dirty="0">
                <a:latin typeface="Arial" panose="020B0604020202020204" pitchFamily="34" charset="0"/>
                <a:cs typeface="Arial" panose="020B0604020202020204" pitchFamily="34" charset="0"/>
              </a:rPr>
              <a:t>Convert ML output into WAF decisions (ALLOW / BLOCK)</a:t>
            </a:r>
          </a:p>
          <a:p>
            <a:pPr lvl="1" algn="just"/>
            <a:r>
              <a:rPr lang="en-US" dirty="0">
                <a:latin typeface="Arial" panose="020B0604020202020204" pitchFamily="34" charset="0"/>
                <a:cs typeface="Arial" panose="020B0604020202020204" pitchFamily="34" charset="0"/>
              </a:rPr>
              <a:t>Provide real-time visibility via live dashboard</a:t>
            </a:r>
          </a:p>
          <a:p>
            <a:pPr marL="457200" lvl="1" indent="0">
              <a:buNone/>
            </a:pPr>
            <a:r>
              <a:rPr lang="en-US" b="1" dirty="0">
                <a:latin typeface="Arial" panose="020B0604020202020204" pitchFamily="34" charset="0"/>
                <a:cs typeface="Arial" panose="020B0604020202020204" pitchFamily="34" charset="0"/>
              </a:rPr>
              <a:t>Key design goal:</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Modular, explainable, and extensible architecture</a:t>
            </a: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b="1"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45A343B3-89E7-DC85-EAF8-ECE553C358A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Multiclass attack classification using ML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1451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E2F78-F332-75A5-1DAB-DD71A80EFF8B}"/>
              </a:ext>
            </a:extLst>
          </p:cNvPr>
          <p:cNvSpPr>
            <a:spLocks noGrp="1"/>
          </p:cNvSpPr>
          <p:nvPr>
            <p:ph type="title"/>
          </p:nvPr>
        </p:nvSpPr>
        <p:spPr>
          <a:xfrm>
            <a:off x="6172346" y="469923"/>
            <a:ext cx="5375944" cy="1280890"/>
          </a:xfrm>
        </p:spPr>
        <p:txBody>
          <a:bodyPr>
            <a:normAutofit/>
          </a:bodyPr>
          <a:lstStyle/>
          <a:p>
            <a:r>
              <a:rPr lang="en-US" sz="4400" dirty="0">
                <a:latin typeface="Arial" panose="020B0604020202020204" pitchFamily="34" charset="0"/>
                <a:cs typeface="Arial" panose="020B0604020202020204" pitchFamily="34" charset="0"/>
              </a:rPr>
              <a:t>System Architecture</a:t>
            </a:r>
          </a:p>
        </p:txBody>
      </p:sp>
      <p:pic>
        <p:nvPicPr>
          <p:cNvPr id="3076" name="Picture 4" descr="dataset vector icon. computer filled ...">
            <a:extLst>
              <a:ext uri="{FF2B5EF4-FFF2-40B4-BE49-F238E27FC236}">
                <a16:creationId xmlns:a16="http://schemas.microsoft.com/office/drawing/2014/main" id="{05A96490-B5D4-82DB-D6D8-71FDEA8DF1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437" t="17526" r="15452" b="6623"/>
          <a:stretch>
            <a:fillRect/>
          </a:stretch>
        </p:blipFill>
        <p:spPr bwMode="auto">
          <a:xfrm>
            <a:off x="1169831" y="201846"/>
            <a:ext cx="1524000" cy="162560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Exploring FastAPI: Advanced Features ...">
            <a:extLst>
              <a:ext uri="{FF2B5EF4-FFF2-40B4-BE49-F238E27FC236}">
                <a16:creationId xmlns:a16="http://schemas.microsoft.com/office/drawing/2014/main" id="{1A05FB62-891E-85FC-AF76-C9F1DE2DA0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036" t="10609" r="17594" b="16272"/>
          <a:stretch>
            <a:fillRect/>
          </a:stretch>
        </p:blipFill>
        <p:spPr bwMode="auto">
          <a:xfrm>
            <a:off x="3123504" y="1813589"/>
            <a:ext cx="1267742" cy="107758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Machine Learning Icon Stock ...">
            <a:extLst>
              <a:ext uri="{FF2B5EF4-FFF2-40B4-BE49-F238E27FC236}">
                <a16:creationId xmlns:a16="http://schemas.microsoft.com/office/drawing/2014/main" id="{4C71EB05-CCC5-3C3C-0C90-7036EF3B21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7967" y="2891171"/>
            <a:ext cx="1782762" cy="1782762"/>
          </a:xfrm>
          <a:prstGeom prst="rect">
            <a:avLst/>
          </a:prstGeom>
          <a:solidFill>
            <a:schemeClr val="tx1">
              <a:alpha val="99000"/>
            </a:schemeClr>
          </a:solidFill>
        </p:spPr>
      </p:pic>
      <p:pic>
        <p:nvPicPr>
          <p:cNvPr id="3084" name="Picture 12" descr="Ai Decision-making Ethical Evaluation ...">
            <a:extLst>
              <a:ext uri="{FF2B5EF4-FFF2-40B4-BE49-F238E27FC236}">
                <a16:creationId xmlns:a16="http://schemas.microsoft.com/office/drawing/2014/main" id="{52305679-03C8-55C5-6528-5179749DB5B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8112"/>
          <a:stretch>
            <a:fillRect/>
          </a:stretch>
        </p:blipFill>
        <p:spPr bwMode="auto">
          <a:xfrm>
            <a:off x="7027450" y="4370912"/>
            <a:ext cx="1485618" cy="1472550"/>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Streamlit Part 4: Mastering Media ...">
            <a:extLst>
              <a:ext uri="{FF2B5EF4-FFF2-40B4-BE49-F238E27FC236}">
                <a16:creationId xmlns:a16="http://schemas.microsoft.com/office/drawing/2014/main" id="{BF00A20E-C173-8B29-7D0C-57A68A57C9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22688" y="4294386"/>
            <a:ext cx="1625602" cy="1625602"/>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Connector: Curved 13">
            <a:extLst>
              <a:ext uri="{FF2B5EF4-FFF2-40B4-BE49-F238E27FC236}">
                <a16:creationId xmlns:a16="http://schemas.microsoft.com/office/drawing/2014/main" id="{5640806A-2B02-3DE0-3AA4-7F80652DC780}"/>
              </a:ext>
            </a:extLst>
          </p:cNvPr>
          <p:cNvCxnSpPr>
            <a:cxnSpLocks/>
            <a:stCxn id="3076" idx="3"/>
            <a:endCxn id="3078" idx="0"/>
          </p:cNvCxnSpPr>
          <p:nvPr/>
        </p:nvCxnSpPr>
        <p:spPr>
          <a:xfrm>
            <a:off x="2693831" y="1014647"/>
            <a:ext cx="1063544" cy="798942"/>
          </a:xfrm>
          <a:prstGeom prst="curvedConnector2">
            <a:avLst/>
          </a:prstGeom>
          <a:ln w="79375" cmpd="sng">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267FB185-A00B-D77B-D359-1FAC370F7C30}"/>
              </a:ext>
            </a:extLst>
          </p:cNvPr>
          <p:cNvCxnSpPr>
            <a:cxnSpLocks/>
            <a:stCxn id="3078" idx="3"/>
            <a:endCxn id="3082" idx="0"/>
          </p:cNvCxnSpPr>
          <p:nvPr/>
        </p:nvCxnSpPr>
        <p:spPr>
          <a:xfrm>
            <a:off x="4391246" y="2352380"/>
            <a:ext cx="1318102" cy="538791"/>
          </a:xfrm>
          <a:prstGeom prst="curvedConnector2">
            <a:avLst/>
          </a:prstGeom>
          <a:ln w="79375" cmpd="sng">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7FE6DF70-9E64-90A6-CD86-EB620A03B702}"/>
              </a:ext>
            </a:extLst>
          </p:cNvPr>
          <p:cNvCxnSpPr>
            <a:cxnSpLocks/>
            <a:stCxn id="3082" idx="3"/>
            <a:endCxn id="3084" idx="0"/>
          </p:cNvCxnSpPr>
          <p:nvPr/>
        </p:nvCxnSpPr>
        <p:spPr>
          <a:xfrm>
            <a:off x="6600729" y="3782552"/>
            <a:ext cx="1169530" cy="588360"/>
          </a:xfrm>
          <a:prstGeom prst="curvedConnector2">
            <a:avLst/>
          </a:prstGeom>
          <a:ln w="79375" cmpd="sng">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3FD40D4B-39C0-09E8-7316-C5EE79B5ACCB}"/>
              </a:ext>
            </a:extLst>
          </p:cNvPr>
          <p:cNvCxnSpPr>
            <a:cxnSpLocks/>
            <a:stCxn id="3084" idx="3"/>
            <a:endCxn id="3092" idx="1"/>
          </p:cNvCxnSpPr>
          <p:nvPr/>
        </p:nvCxnSpPr>
        <p:spPr>
          <a:xfrm>
            <a:off x="8513068" y="5107187"/>
            <a:ext cx="1409620" cy="0"/>
          </a:xfrm>
          <a:prstGeom prst="straightConnector1">
            <a:avLst/>
          </a:prstGeom>
          <a:ln w="79375" cmpd="sng">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19AA70F-4CE5-F035-1D99-AED8F0BB572E}"/>
              </a:ext>
            </a:extLst>
          </p:cNvPr>
          <p:cNvSpPr txBox="1"/>
          <p:nvPr/>
        </p:nvSpPr>
        <p:spPr>
          <a:xfrm>
            <a:off x="4590481" y="4489267"/>
            <a:ext cx="2436969"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Pre Trained Model</a:t>
            </a:r>
          </a:p>
        </p:txBody>
      </p:sp>
      <p:sp>
        <p:nvSpPr>
          <p:cNvPr id="36" name="TextBox 35">
            <a:extLst>
              <a:ext uri="{FF2B5EF4-FFF2-40B4-BE49-F238E27FC236}">
                <a16:creationId xmlns:a16="http://schemas.microsoft.com/office/drawing/2014/main" id="{E6AE0D84-070B-6481-FF0C-CE5D9E9881FC}"/>
              </a:ext>
            </a:extLst>
          </p:cNvPr>
          <p:cNvSpPr txBox="1"/>
          <p:nvPr/>
        </p:nvSpPr>
        <p:spPr>
          <a:xfrm>
            <a:off x="6780909" y="5880530"/>
            <a:ext cx="243696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ML decision/Rule Recommendation</a:t>
            </a:r>
          </a:p>
        </p:txBody>
      </p:sp>
      <p:sp>
        <p:nvSpPr>
          <p:cNvPr id="37" name="TextBox 36">
            <a:extLst>
              <a:ext uri="{FF2B5EF4-FFF2-40B4-BE49-F238E27FC236}">
                <a16:creationId xmlns:a16="http://schemas.microsoft.com/office/drawing/2014/main" id="{E1E7EAB1-C474-4A25-8EBE-7CD0BCF05A3B}"/>
              </a:ext>
            </a:extLst>
          </p:cNvPr>
          <p:cNvSpPr txBox="1"/>
          <p:nvPr/>
        </p:nvSpPr>
        <p:spPr>
          <a:xfrm>
            <a:off x="9503947" y="5937327"/>
            <a:ext cx="268805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Dashboard for Visuals</a:t>
            </a:r>
          </a:p>
        </p:txBody>
      </p:sp>
      <p:sp>
        <p:nvSpPr>
          <p:cNvPr id="40" name="TextBox 39">
            <a:extLst>
              <a:ext uri="{FF2B5EF4-FFF2-40B4-BE49-F238E27FC236}">
                <a16:creationId xmlns:a16="http://schemas.microsoft.com/office/drawing/2014/main" id="{E70809B1-14E8-D436-164F-D17CA53BC32A}"/>
              </a:ext>
            </a:extLst>
          </p:cNvPr>
          <p:cNvSpPr txBox="1"/>
          <p:nvPr/>
        </p:nvSpPr>
        <p:spPr>
          <a:xfrm>
            <a:off x="6780909" y="1297818"/>
            <a:ext cx="4892931"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Backend and frontend decoupled</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ML inference isolated for scalability</a:t>
            </a: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F2CCDF86-3710-062C-AE3D-B822F2F5EEDA}"/>
              </a:ext>
            </a:extLst>
          </p:cNvPr>
          <p:cNvSpPr txBox="1"/>
          <p:nvPr/>
        </p:nvSpPr>
        <p:spPr>
          <a:xfrm>
            <a:off x="1169831" y="1944149"/>
            <a:ext cx="193040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Test Dataset</a:t>
            </a:r>
          </a:p>
        </p:txBody>
      </p:sp>
      <p:sp>
        <p:nvSpPr>
          <p:cNvPr id="42" name="TextBox 41">
            <a:extLst>
              <a:ext uri="{FF2B5EF4-FFF2-40B4-BE49-F238E27FC236}">
                <a16:creationId xmlns:a16="http://schemas.microsoft.com/office/drawing/2014/main" id="{407A5C0E-9073-9028-919D-B94A69509246}"/>
              </a:ext>
            </a:extLst>
          </p:cNvPr>
          <p:cNvSpPr txBox="1"/>
          <p:nvPr/>
        </p:nvSpPr>
        <p:spPr>
          <a:xfrm>
            <a:off x="2613328" y="2953947"/>
            <a:ext cx="2436969"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Fast API  Inference</a:t>
            </a:r>
          </a:p>
        </p:txBody>
      </p:sp>
    </p:spTree>
    <p:extLst>
      <p:ext uri="{BB962C8B-B14F-4D97-AF65-F5344CB8AC3E}">
        <p14:creationId xmlns:p14="http://schemas.microsoft.com/office/powerpoint/2010/main" val="89114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63D9-7D2B-BCE8-45E1-F58042FFD9C2}"/>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Machine Learning Model</a:t>
            </a:r>
          </a:p>
        </p:txBody>
      </p:sp>
      <p:sp>
        <p:nvSpPr>
          <p:cNvPr id="3" name="Content Placeholder 2">
            <a:extLst>
              <a:ext uri="{FF2B5EF4-FFF2-40B4-BE49-F238E27FC236}">
                <a16:creationId xmlns:a16="http://schemas.microsoft.com/office/drawing/2014/main" id="{22859E4F-1E8E-81A7-604F-0897CF3F3A06}"/>
              </a:ext>
            </a:extLst>
          </p:cNvPr>
          <p:cNvSpPr>
            <a:spLocks noGrp="1"/>
          </p:cNvSpPr>
          <p:nvPr>
            <p:ph idx="1"/>
          </p:nvPr>
        </p:nvSpPr>
        <p:spPr>
          <a:xfrm>
            <a:off x="2507932" y="3429000"/>
            <a:ext cx="6595428" cy="3777622"/>
          </a:xfrm>
        </p:spPr>
        <p:txBody>
          <a:bodyPr>
            <a:normAutofit/>
          </a:bodyPr>
          <a:lstStyle/>
          <a:p>
            <a:pPr algn="just"/>
            <a:r>
              <a:rPr lang="en-US" sz="2000" dirty="0">
                <a:solidFill>
                  <a:schemeClr val="tx1"/>
                </a:solidFill>
                <a:latin typeface="Arial" panose="020B0604020202020204" pitchFamily="34" charset="0"/>
                <a:cs typeface="Arial" panose="020B0604020202020204" pitchFamily="34" charset="0"/>
              </a:rPr>
              <a:t>ML Model Overview</a:t>
            </a:r>
          </a:p>
          <a:p>
            <a:pPr lvl="1" algn="just"/>
            <a:r>
              <a:rPr lang="en-US" sz="1800" dirty="0">
                <a:solidFill>
                  <a:schemeClr val="tx1"/>
                </a:solidFill>
                <a:latin typeface="Arial" panose="020B0604020202020204" pitchFamily="34" charset="0"/>
                <a:cs typeface="Arial" panose="020B0604020202020204" pitchFamily="34" charset="0"/>
              </a:rPr>
              <a:t>Dataset: UNSW-NB15</a:t>
            </a:r>
          </a:p>
          <a:p>
            <a:pPr lvl="1" algn="just"/>
            <a:r>
              <a:rPr lang="en-US" sz="1800" dirty="0">
                <a:solidFill>
                  <a:schemeClr val="tx1"/>
                </a:solidFill>
                <a:latin typeface="Arial" panose="020B0604020202020204" pitchFamily="34" charset="0"/>
                <a:cs typeface="Arial" panose="020B0604020202020204" pitchFamily="34" charset="0"/>
              </a:rPr>
              <a:t>Model: RandomForest (multiclass)</a:t>
            </a:r>
          </a:p>
          <a:p>
            <a:pPr lvl="1" algn="just"/>
            <a:r>
              <a:rPr lang="en-US" sz="1800" dirty="0">
                <a:solidFill>
                  <a:schemeClr val="tx1"/>
                </a:solidFill>
                <a:latin typeface="Arial" panose="020B0604020202020204" pitchFamily="34" charset="0"/>
                <a:cs typeface="Arial" panose="020B0604020202020204" pitchFamily="34" charset="0"/>
              </a:rPr>
              <a:t>Feature selection to reduce noise &amp; false alarms</a:t>
            </a:r>
          </a:p>
          <a:p>
            <a:pPr lvl="1" algn="just"/>
            <a:r>
              <a:rPr lang="en-US" sz="1800" dirty="0">
                <a:solidFill>
                  <a:schemeClr val="tx1"/>
                </a:solidFill>
                <a:latin typeface="Arial" panose="020B0604020202020204" pitchFamily="34" charset="0"/>
                <a:cs typeface="Arial" panose="020B0604020202020204" pitchFamily="34" charset="0"/>
              </a:rPr>
              <a:t>Trained to balance detection and false positives</a:t>
            </a:r>
          </a:p>
          <a:p>
            <a:pPr marL="457200" lvl="1" indent="0" algn="just">
              <a:buNone/>
            </a:pPr>
            <a:r>
              <a:rPr lang="en-US" sz="1800" b="1" dirty="0">
                <a:solidFill>
                  <a:schemeClr val="tx1"/>
                </a:solidFill>
                <a:latin typeface="Arial" panose="020B0604020202020204" pitchFamily="34" charset="0"/>
                <a:cs typeface="Arial" panose="020B0604020202020204" pitchFamily="34" charset="0"/>
              </a:rPr>
              <a:t>Decision Mapping:</a:t>
            </a:r>
          </a:p>
          <a:p>
            <a:pPr marL="457200" lvl="1" indent="0" algn="just">
              <a:buNone/>
            </a:pPr>
            <a:r>
              <a:rPr lang="en-US" sz="1800" b="1" dirty="0">
                <a:solidFill>
                  <a:schemeClr val="tx1"/>
                </a:solidFill>
                <a:latin typeface="Arial" panose="020B0604020202020204" pitchFamily="34" charset="0"/>
                <a:cs typeface="Arial" panose="020B0604020202020204" pitchFamily="34" charset="0"/>
              </a:rPr>
              <a:t>	Normal → ALLOW</a:t>
            </a:r>
          </a:p>
          <a:p>
            <a:pPr marL="457200" lvl="1" indent="0" algn="just">
              <a:buNone/>
            </a:pPr>
            <a:r>
              <a:rPr lang="en-US" sz="1800" b="1" dirty="0">
                <a:solidFill>
                  <a:schemeClr val="tx1"/>
                </a:solidFill>
                <a:latin typeface="Arial" panose="020B0604020202020204" pitchFamily="34" charset="0"/>
                <a:cs typeface="Arial" panose="020B0604020202020204" pitchFamily="34" charset="0"/>
              </a:rPr>
              <a:t>	Any attack class → BLOCK</a:t>
            </a:r>
          </a:p>
        </p:txBody>
      </p:sp>
      <p:pic>
        <p:nvPicPr>
          <p:cNvPr id="4" name="Picture 3">
            <a:extLst>
              <a:ext uri="{FF2B5EF4-FFF2-40B4-BE49-F238E27FC236}">
                <a16:creationId xmlns:a16="http://schemas.microsoft.com/office/drawing/2014/main" id="{A68886F4-F4DF-C95E-DE65-C4C72EF34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8011" y="1550789"/>
            <a:ext cx="3852670" cy="1379896"/>
          </a:xfrm>
          <a:prstGeom prst="rect">
            <a:avLst/>
          </a:prstGeom>
        </p:spPr>
      </p:pic>
    </p:spTree>
    <p:extLst>
      <p:ext uri="{BB962C8B-B14F-4D97-AF65-F5344CB8AC3E}">
        <p14:creationId xmlns:p14="http://schemas.microsoft.com/office/powerpoint/2010/main" val="305504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3C10A-C26D-44ED-89E6-A3237F6417DD}"/>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Live Dashboard</a:t>
            </a:r>
          </a:p>
        </p:txBody>
      </p:sp>
      <p:sp>
        <p:nvSpPr>
          <p:cNvPr id="3" name="Content Placeholder 2">
            <a:extLst>
              <a:ext uri="{FF2B5EF4-FFF2-40B4-BE49-F238E27FC236}">
                <a16:creationId xmlns:a16="http://schemas.microsoft.com/office/drawing/2014/main" id="{7E17C44D-2107-0AC3-B583-62AFCEFDEC4D}"/>
              </a:ext>
            </a:extLst>
          </p:cNvPr>
          <p:cNvSpPr>
            <a:spLocks noGrp="1"/>
          </p:cNvSpPr>
          <p:nvPr>
            <p:ph idx="1"/>
          </p:nvPr>
        </p:nvSpPr>
        <p:spPr>
          <a:xfrm>
            <a:off x="160972" y="1412240"/>
            <a:ext cx="8915400" cy="1635760"/>
          </a:xfrm>
        </p:spPr>
        <p:txBody>
          <a:bodyPr/>
          <a:lstStyle/>
          <a:p>
            <a:r>
              <a:rPr lang="en-US" dirty="0">
                <a:latin typeface="Arial" panose="020B0604020202020204" pitchFamily="34" charset="0"/>
                <a:cs typeface="Arial" panose="020B0604020202020204" pitchFamily="34" charset="0"/>
              </a:rPr>
              <a:t>Real-Time Monitoring Interface</a:t>
            </a:r>
          </a:p>
          <a:p>
            <a:endParaRPr lang="en-US" dirty="0">
              <a:latin typeface="Arial" panose="020B0604020202020204" pitchFamily="34" charset="0"/>
              <a:cs typeface="Arial" panose="020B0604020202020204"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C23C04C0-9CA1-A2DC-B65A-D7EBA40E8E5D}"/>
              </a:ext>
            </a:extLst>
          </p:cNvPr>
          <p:cNvPicPr>
            <a:picLocks noChangeAspect="1"/>
          </p:cNvPicPr>
          <p:nvPr/>
        </p:nvPicPr>
        <p:blipFill>
          <a:blip r:embed="rId2"/>
          <a:stretch>
            <a:fillRect/>
          </a:stretch>
        </p:blipFill>
        <p:spPr>
          <a:xfrm>
            <a:off x="436086" y="1905000"/>
            <a:ext cx="10750868" cy="4811125"/>
          </a:xfrm>
          <a:prstGeom prst="rect">
            <a:avLst/>
          </a:prstGeom>
        </p:spPr>
      </p:pic>
    </p:spTree>
    <p:extLst>
      <p:ext uri="{BB962C8B-B14F-4D97-AF65-F5344CB8AC3E}">
        <p14:creationId xmlns:p14="http://schemas.microsoft.com/office/powerpoint/2010/main" val="1843484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EF84CAB-6EA4-AF5A-4CD1-F362F7EE65D3}"/>
              </a:ext>
            </a:extLst>
          </p:cNvPr>
          <p:cNvPicPr>
            <a:picLocks noChangeAspect="1"/>
          </p:cNvPicPr>
          <p:nvPr/>
        </p:nvPicPr>
        <p:blipFill>
          <a:blip r:embed="rId2"/>
          <a:stretch>
            <a:fillRect/>
          </a:stretch>
        </p:blipFill>
        <p:spPr>
          <a:xfrm>
            <a:off x="802640" y="975772"/>
            <a:ext cx="11074400" cy="5638388"/>
          </a:xfrm>
          <a:prstGeom prst="rect">
            <a:avLst/>
          </a:prstGeom>
        </p:spPr>
      </p:pic>
      <p:sp>
        <p:nvSpPr>
          <p:cNvPr id="4" name="TextBox 3">
            <a:extLst>
              <a:ext uri="{FF2B5EF4-FFF2-40B4-BE49-F238E27FC236}">
                <a16:creationId xmlns:a16="http://schemas.microsoft.com/office/drawing/2014/main" id="{BD86F751-BEF6-D7FE-FB36-27F50E56E315}"/>
              </a:ext>
            </a:extLst>
          </p:cNvPr>
          <p:cNvSpPr txBox="1"/>
          <p:nvPr/>
        </p:nvSpPr>
        <p:spPr>
          <a:xfrm>
            <a:off x="6756400" y="2926080"/>
            <a:ext cx="4886960" cy="1477328"/>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Live traffic replay (packet-by-packet)</a:t>
            </a:r>
          </a:p>
          <a:p>
            <a:pPr marL="285750" indent="-285750" algn="just">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Current decision &amp; confidence</a:t>
            </a:r>
          </a:p>
          <a:p>
            <a:pPr marL="285750" indent="-285750" algn="just">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Traffic logs</a:t>
            </a:r>
          </a:p>
          <a:p>
            <a:pPr marL="285750" indent="-285750" algn="just">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Live metrics and confusion matrix</a:t>
            </a:r>
          </a:p>
          <a:p>
            <a:pPr marL="285750" indent="-285750" algn="just">
              <a:buFont typeface="Arial" panose="020B0604020202020204" pitchFamily="34" charset="0"/>
              <a:buChar char="•"/>
            </a:pPr>
            <a:endParaRPr lang="en-US"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1AD3BA8-8F88-AD21-06A7-A105F97C24FA}"/>
              </a:ext>
            </a:extLst>
          </p:cNvPr>
          <p:cNvSpPr txBox="1"/>
          <p:nvPr/>
        </p:nvSpPr>
        <p:spPr>
          <a:xfrm>
            <a:off x="6522720" y="4856480"/>
            <a:ext cx="5120640" cy="1200329"/>
          </a:xfrm>
          <a:prstGeom prst="rect">
            <a:avLst/>
          </a:prstGeom>
          <a:noFill/>
        </p:spPr>
        <p:txBody>
          <a:bodyPr wrap="square" rtlCol="0">
            <a:spAutoFit/>
          </a:bodyPr>
          <a:lstStyle/>
          <a:p>
            <a:pPr algn="just"/>
            <a:r>
              <a:rPr lang="en-US" dirty="0">
                <a:solidFill>
                  <a:schemeClr val="bg1"/>
                </a:solidFill>
                <a:latin typeface="Arial" panose="020B0604020202020204" pitchFamily="34" charset="0"/>
                <a:cs typeface="Arial" panose="020B0604020202020204" pitchFamily="34" charset="0"/>
              </a:rPr>
              <a:t>NOTE : The accuracy and other metrics are calculated for live traffic analysis so they are based on incoming traffic (not the actual model trained metrics)</a:t>
            </a:r>
          </a:p>
        </p:txBody>
      </p:sp>
    </p:spTree>
    <p:extLst>
      <p:ext uri="{BB962C8B-B14F-4D97-AF65-F5344CB8AC3E}">
        <p14:creationId xmlns:p14="http://schemas.microsoft.com/office/powerpoint/2010/main" val="221936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10296-265A-3ED5-0D0B-0E2AAF7E1449}"/>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Zero Day handling logic</a:t>
            </a:r>
          </a:p>
        </p:txBody>
      </p:sp>
      <p:sp>
        <p:nvSpPr>
          <p:cNvPr id="3" name="Content Placeholder 2">
            <a:extLst>
              <a:ext uri="{FF2B5EF4-FFF2-40B4-BE49-F238E27FC236}">
                <a16:creationId xmlns:a16="http://schemas.microsoft.com/office/drawing/2014/main" id="{63B72E54-323C-6243-CC77-A1A81F08A116}"/>
              </a:ext>
            </a:extLst>
          </p:cNvPr>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Handling Unknown Attacks</a:t>
            </a:r>
          </a:p>
          <a:p>
            <a:pPr lvl="1"/>
            <a:r>
              <a:rPr lang="en-US" sz="1800" dirty="0">
                <a:latin typeface="Arial" panose="020B0604020202020204" pitchFamily="34" charset="0"/>
                <a:cs typeface="Arial" panose="020B0604020202020204" pitchFamily="34" charset="0"/>
              </a:rPr>
              <a:t>No static signatures</a:t>
            </a:r>
          </a:p>
          <a:p>
            <a:pPr lvl="1"/>
            <a:r>
              <a:rPr lang="en-US" sz="1800" dirty="0">
                <a:latin typeface="Arial" panose="020B0604020202020204" pitchFamily="34" charset="0"/>
                <a:cs typeface="Arial" panose="020B0604020202020204" pitchFamily="34" charset="0"/>
              </a:rPr>
              <a:t>Behavioral deviation–based detection</a:t>
            </a:r>
          </a:p>
          <a:p>
            <a:pPr lvl="1"/>
            <a:r>
              <a:rPr lang="en-US" sz="1800" dirty="0">
                <a:latin typeface="Arial" panose="020B0604020202020204" pitchFamily="34" charset="0"/>
                <a:cs typeface="Arial" panose="020B0604020202020204" pitchFamily="34" charset="0"/>
              </a:rPr>
              <a:t>Unseen patterns classified as attacks if anomalous</a:t>
            </a:r>
          </a:p>
          <a:p>
            <a:pPr lvl="1"/>
            <a:r>
              <a:rPr lang="en-US" sz="1800" dirty="0">
                <a:latin typeface="Arial" panose="020B0604020202020204" pitchFamily="34" charset="0"/>
                <a:cs typeface="Arial" panose="020B0604020202020204" pitchFamily="34" charset="0"/>
              </a:rPr>
              <a:t>Bot labeling not explicitly available in dataset</a:t>
            </a:r>
          </a:p>
          <a:p>
            <a:pPr marL="457200" lvl="1" indent="0">
              <a:buNone/>
            </a:pPr>
            <a:r>
              <a:rPr lang="en-US" sz="1800" b="1" dirty="0">
                <a:latin typeface="Arial" panose="020B0604020202020204" pitchFamily="34" charset="0"/>
                <a:cs typeface="Arial" panose="020B0604020202020204" pitchFamily="34" charset="0"/>
              </a:rPr>
              <a:t>Detection is Probabilistic , not signature based Hence , can handle zero day attacks.</a:t>
            </a:r>
          </a:p>
        </p:txBody>
      </p:sp>
    </p:spTree>
    <p:extLst>
      <p:ext uri="{BB962C8B-B14F-4D97-AF65-F5344CB8AC3E}">
        <p14:creationId xmlns:p14="http://schemas.microsoft.com/office/powerpoint/2010/main" val="88746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C1AE-39B4-C694-237C-5133FA91A2D8}"/>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Results</a:t>
            </a:r>
          </a:p>
        </p:txBody>
      </p:sp>
      <p:pic>
        <p:nvPicPr>
          <p:cNvPr id="5" name="Picture 4" descr="A screenshot of a computer screen">
            <a:extLst>
              <a:ext uri="{FF2B5EF4-FFF2-40B4-BE49-F238E27FC236}">
                <a16:creationId xmlns:a16="http://schemas.microsoft.com/office/drawing/2014/main" id="{5C39F767-8AF0-6A7B-4EB6-E847EB02B305}"/>
              </a:ext>
            </a:extLst>
          </p:cNvPr>
          <p:cNvPicPr>
            <a:picLocks noChangeAspect="1"/>
          </p:cNvPicPr>
          <p:nvPr/>
        </p:nvPicPr>
        <p:blipFill>
          <a:blip r:embed="rId2"/>
          <a:srcRect t="1335" b="2981"/>
          <a:stretch>
            <a:fillRect/>
          </a:stretch>
        </p:blipFill>
        <p:spPr>
          <a:xfrm>
            <a:off x="413068" y="1544319"/>
            <a:ext cx="5692434" cy="3484881"/>
          </a:xfrm>
          <a:prstGeom prst="rect">
            <a:avLst/>
          </a:prstGeom>
        </p:spPr>
      </p:pic>
      <p:sp>
        <p:nvSpPr>
          <p:cNvPr id="6" name="TextBox 5">
            <a:extLst>
              <a:ext uri="{FF2B5EF4-FFF2-40B4-BE49-F238E27FC236}">
                <a16:creationId xmlns:a16="http://schemas.microsoft.com/office/drawing/2014/main" id="{EFD7E050-D441-41C2-B9DE-7F6639893287}"/>
              </a:ext>
            </a:extLst>
          </p:cNvPr>
          <p:cNvSpPr txBox="1"/>
          <p:nvPr/>
        </p:nvSpPr>
        <p:spPr>
          <a:xfrm>
            <a:off x="4114800" y="5169212"/>
            <a:ext cx="566928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Results for Model Training</a:t>
            </a:r>
          </a:p>
        </p:txBody>
      </p:sp>
      <p:sp>
        <p:nvSpPr>
          <p:cNvPr id="7" name="TextBox 6">
            <a:extLst>
              <a:ext uri="{FF2B5EF4-FFF2-40B4-BE49-F238E27FC236}">
                <a16:creationId xmlns:a16="http://schemas.microsoft.com/office/drawing/2014/main" id="{46127666-C375-CDED-1C3B-2603342141F4}"/>
              </a:ext>
            </a:extLst>
          </p:cNvPr>
          <p:cNvSpPr txBox="1"/>
          <p:nvPr/>
        </p:nvSpPr>
        <p:spPr>
          <a:xfrm>
            <a:off x="1513840" y="6057314"/>
            <a:ext cx="1008888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NOTE: Testing is done using Live dashboard and its results are also pasted in fig 2 </a:t>
            </a:r>
          </a:p>
        </p:txBody>
      </p:sp>
      <p:pic>
        <p:nvPicPr>
          <p:cNvPr id="9" name="Picture 8">
            <a:extLst>
              <a:ext uri="{FF2B5EF4-FFF2-40B4-BE49-F238E27FC236}">
                <a16:creationId xmlns:a16="http://schemas.microsoft.com/office/drawing/2014/main" id="{69410F75-34EB-584A-7EB7-A35510CFC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040" y="1380732"/>
            <a:ext cx="5362892" cy="3575261"/>
          </a:xfrm>
          <a:prstGeom prst="rect">
            <a:avLst/>
          </a:prstGeom>
        </p:spPr>
      </p:pic>
    </p:spTree>
    <p:extLst>
      <p:ext uri="{BB962C8B-B14F-4D97-AF65-F5344CB8AC3E}">
        <p14:creationId xmlns:p14="http://schemas.microsoft.com/office/powerpoint/2010/main" val="70903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5A84D-074D-BD28-BC65-E055FFE88550}"/>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75312E04-62CF-DCAD-E933-F18343FB0607}"/>
              </a:ext>
            </a:extLst>
          </p:cNvPr>
          <p:cNvSpPr>
            <a:spLocks noGrp="1"/>
          </p:cNvSpPr>
          <p:nvPr>
            <p:ph idx="1"/>
          </p:nvPr>
        </p:nvSpPr>
        <p:spPr>
          <a:xfrm>
            <a:off x="2081212" y="1818640"/>
            <a:ext cx="8915400" cy="3777622"/>
          </a:xfrm>
        </p:spPr>
        <p:txBody>
          <a:bodyPr>
            <a:normAutofit/>
          </a:bodyPr>
          <a:lstStyle/>
          <a:p>
            <a:pPr marL="0" indent="0" algn="just">
              <a:buNone/>
            </a:pPr>
            <a:r>
              <a:rPr lang="en-US" dirty="0">
                <a:latin typeface="Arial" panose="020B0604020202020204" pitchFamily="34" charset="0"/>
                <a:cs typeface="Arial" panose="020B0604020202020204" pitchFamily="34" charset="0"/>
              </a:rPr>
              <a:t>This project demonstrates a machine learning–based WAF decision and anomaly detection module designed to integrate with existing Web Application Firewalls that enhances traditional security mechanisms through behavioral traffic analysis rather than static rule matching. By integrating a multiclass RandomForest model with a FastAPI inference backend and a real-time Streamlit dashboard, the system enables live anomaly detection, actionable ALLOW/BLOCK decisions, and continuous </a:t>
            </a:r>
            <a:r>
              <a:rPr lang="en-US" sz="2000" dirty="0">
                <a:latin typeface="Arial" panose="020B0604020202020204" pitchFamily="34" charset="0"/>
                <a:cs typeface="Arial" panose="020B0604020202020204" pitchFamily="34" charset="0"/>
              </a:rPr>
              <a:t>visibility</a:t>
            </a:r>
            <a:r>
              <a:rPr lang="en-US" dirty="0">
                <a:latin typeface="Arial" panose="020B0604020202020204" pitchFamily="34" charset="0"/>
                <a:cs typeface="Arial" panose="020B0604020202020204" pitchFamily="34" charset="0"/>
              </a:rPr>
              <a:t> into traffic behavior and performance metrics. The modular architecture ensures ease of integration with existing WAF engines and provides a scalable foundation for practical deployment. As future work, the system can be extended to support live packet capture and adaptive confidence-based decision thresholds to further reduce false positives in real-world environments.</a:t>
            </a:r>
          </a:p>
        </p:txBody>
      </p:sp>
    </p:spTree>
    <p:extLst>
      <p:ext uri="{BB962C8B-B14F-4D97-AF65-F5344CB8AC3E}">
        <p14:creationId xmlns:p14="http://schemas.microsoft.com/office/powerpoint/2010/main" val="60480392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65</TotalTime>
  <Words>455</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Wisp</vt:lpstr>
      <vt:lpstr>ML BASED WAF</vt:lpstr>
      <vt:lpstr>Problem Statement </vt:lpstr>
      <vt:lpstr>Proposed Solution</vt:lpstr>
      <vt:lpstr>System Architecture</vt:lpstr>
      <vt:lpstr>Machine Learning Model</vt:lpstr>
      <vt:lpstr>Live Dashboard</vt:lpstr>
      <vt:lpstr>PowerPoint Presentation</vt:lpstr>
      <vt:lpstr>Zero Day handling logic</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 tali</dc:creator>
  <cp:lastModifiedBy>Teja tali</cp:lastModifiedBy>
  <cp:revision>2</cp:revision>
  <dcterms:created xsi:type="dcterms:W3CDTF">2026-01-04T09:00:38Z</dcterms:created>
  <dcterms:modified xsi:type="dcterms:W3CDTF">2026-01-04T10:38:05Z</dcterms:modified>
</cp:coreProperties>
</file>